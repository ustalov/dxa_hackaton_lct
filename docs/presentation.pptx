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ru-RU"/>
    </a:defPPr>
    <a:lvl1pPr marL="0" algn="l" defTabSz="91422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043033-ACD2-3357-C062-905C20F21E70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A22C65-4173-5B36-48D8-0BEF72DB2E8C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F8B4AC-5D2D-0D2A-8C03-729F5430CDE9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0C525C-277A-6D37-FDDF-4DC1BBF65A6A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AF3C62-2242-8DD4-592A-0CF7A8B2D3DB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14</a:t>
            </a:fld>
            <a:endParaRPr lang="ru-RU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664D04-534F-48F2-3C2A-A5D72E7DDDD5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EC46EF-A037-C952-5683-F8B92A0859C6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7E6787-FD17-F8E4-F817-224C89A3BA7E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9A5103-FA72-D113-BFD0-B7EE267B7104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146A06-410A-EFB1-5DFB-FA2F5A6F1001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2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47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4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51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53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55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14.09.2026</a:t>
            </a:fld>
            <a:endParaRPr lang="ru-RU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14.09.2026</a:t>
            </a:fld>
            <a:endParaRPr lang="ru-RU"/>
          </a:p>
        </p:txBody>
      </p:sp>
      <p:sp>
        <p:nvSpPr>
          <p:cNvPr id="2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14.09.2026</a:t>
            </a:fld>
            <a:endParaRPr lang="ru-RU"/>
          </a:p>
        </p:txBody>
      </p:sp>
      <p:sp>
        <p:nvSpPr>
          <p:cNvPr id="1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14.09.2026</a:t>
            </a:fld>
            <a:endParaRPr lang="ru-RU"/>
          </a:p>
        </p:txBody>
      </p:sp>
      <p:sp>
        <p:nvSpPr>
          <p:cNvPr id="13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14.09.2026</a:t>
            </a:fld>
            <a:endParaRPr lang="ru-RU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2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4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5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0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1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3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5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7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8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2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30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31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32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6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7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9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0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3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75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6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7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8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6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6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5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6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7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8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0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0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52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53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8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0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91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0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1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0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0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9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123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6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7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0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1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2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68" name="Google Shape;2799;p94"/>
          <p:cNvCxnSpPr>
            <a:cxnSpLocks/>
          </p:cNvCxnSpPr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/>
          <p:cNvCxnSpPr>
            <a:cxnSpLocks/>
          </p:cNvCxnSpPr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/>
          <p:cNvCxnSpPr>
            <a:cxnSpLocks/>
          </p:cNvCxnSpPr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/>
          <p:cNvCxnSpPr>
            <a:cxnSpLocks/>
          </p:cNvCxnSpPr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14.09.2026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14.09.2026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7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8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0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3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 bwMode="auto">
          <a:xfrm>
            <a:off x="0" y="4095498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en-US" sz="4800"/>
              <a:t>Image Lab</a:t>
            </a:r>
            <a:endParaRPr lang="ru-RU" sz="480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305186" y="329801"/>
            <a:ext cx="5193299" cy="1082589"/>
          </a:xfrm>
        </p:spPr>
        <p:txBody>
          <a:bodyPr/>
          <a:p/>
        </p:txBody>
      </p:sp>
      <p:sp>
        <p:nvSpPr>
          <p:cNvPr id="5" name="Текст 4"/>
          <p:cNvSpPr>
            <a:spLocks noGrp="1"/>
          </p:cNvSpPr>
          <p:nvPr>
            <p:ph type="body" sz="quarter" idx="12"/>
          </p:nvPr>
        </p:nvSpPr>
        <p:spPr bwMode="auto">
          <a:xfrm flipH="0" flipV="0">
            <a:off x="0" y="5659500"/>
            <a:ext cx="11902775" cy="75717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85000" lnSpcReduction="3000"/>
          </a:bodyPr>
          <a:lstStyle/>
          <a:p>
            <a:pPr indent="268288">
              <a:defRPr/>
            </a:pPr>
            <a:r>
              <a:rPr lang="en-US" sz="30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04 - </a:t>
            </a:r>
            <a:r>
              <a:rPr sz="30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Сервис искусственного интеллекта по оценке качества исследований плотности костей человека</a:t>
            </a:r>
            <a:endParaRPr lang="ru-RU"/>
          </a:p>
        </p:txBody>
      </p:sp>
      <p:sp>
        <p:nvSpPr>
          <p:cNvPr id="2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733651998" name="Image 9" descr=" 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7849" y="160439"/>
            <a:ext cx="1987539" cy="444441"/>
          </a:xfrm>
          <a:prstGeom prst="rect">
            <a:avLst/>
          </a:prstGeom>
        </p:spPr>
      </p:pic>
      <p:pic>
        <p:nvPicPr>
          <p:cNvPr id="1560890193" name="Image 1" descr=" 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7849" y="828817"/>
            <a:ext cx="1917689" cy="501584"/>
          </a:xfrm>
          <a:prstGeom prst="rect">
            <a:avLst/>
          </a:prstGeom>
        </p:spPr>
      </p:pic>
      <p:pic>
        <p:nvPicPr>
          <p:cNvPr id="665145713" name="Image 5" descr=" 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826667" y="160439"/>
            <a:ext cx="1504941" cy="501584"/>
          </a:xfrm>
          <a:prstGeom prst="rect">
            <a:avLst/>
          </a:prstGeom>
        </p:spPr>
      </p:pic>
      <p:pic>
        <p:nvPicPr>
          <p:cNvPr id="2092718966" name="Image 11" descr=" 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2901835" y="885960"/>
            <a:ext cx="1441441" cy="444441"/>
          </a:xfrm>
          <a:prstGeom prst="rect">
            <a:avLst/>
          </a:prstGeom>
        </p:spPr>
      </p:pic>
      <p:pic>
        <p:nvPicPr>
          <p:cNvPr id="2018811089" name="Image 13" descr=" 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167433" y="1550146"/>
            <a:ext cx="1968489" cy="279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2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6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8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700">
                <a:solidFill>
                  <a:schemeClr val="tx1"/>
                </a:solidFill>
              </a:rPr>
              <a:t>Синтетические проекции из КТ, адаптация на PNG и анатомически объяснимые измерения. Пять решений, единая пакетная обработка, XLSX и ZIP визуализаций.</a:t>
            </a:r>
            <a:endParaRPr/>
          </a:p>
        </p:txBody>
      </p:sp>
      <p:sp>
        <p:nvSpPr>
          <p:cNvPr id="14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>
                <a:solidFill>
                  <a:schemeClr val="tx1"/>
                </a:solidFill>
              </a:rPr>
              <a:t>Усталов Андрей Александрович, главный медицинский разработчик, врач-рентгенолог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>
                <a:solidFill>
                  <a:schemeClr val="tx1"/>
                </a:solidFill>
              </a:rPr>
              <a:t>3 человек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Более 3-х лет назад мы объединились для того, чтобы реализовать наши идеи и делать лучевую диагностику лучше.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ООО Имэдж Лаб, НМИЦ хирургии им. А. В. Вишневского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Москва</a:t>
            </a:r>
            <a:endParaRPr/>
          </a:p>
        </p:txBody>
      </p:sp>
      <p:sp>
        <p:nvSpPr>
          <p:cNvPr id="15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18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en-US" sz="2400">
                <a:solidFill>
                  <a:schemeClr val="accent5"/>
                </a:solidFill>
                <a:latin typeface="+mn-lt"/>
              </a:rPr>
              <a:t>Image Lab</a:t>
            </a:r>
            <a:endParaRPr lang="ru-RU" sz="240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/>
          <p:cNvCxnSpPr>
            <a:cxnSpLocks/>
          </p:cNvCxnSpPr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cxnSpLocks/>
          </p:cNvCxnSpPr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cxnSpLocks/>
          </p:cNvCxnSpPr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5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700">
                <a:solidFill>
                  <a:schemeClr val="tx1"/>
                </a:solidFill>
              </a:rPr>
              <a:t>Локальная проверка качества DXA: анатомические модели находят ориентиры, геометрические правила выявляют нарушения. Врач видит исходник, разметку и объяснимый результат.</a:t>
            </a:r>
            <a:endParaRPr/>
          </a:p>
        </p:txBody>
      </p:sp>
      <p:sp>
        <p:nvSpPr>
          <p:cNvPr id="10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t>2</a:t>
            </a:r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189256805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088364" y="-168780"/>
            <a:ext cx="1990381" cy="1989939"/>
          </a:xfrm>
          <a:prstGeom prst="rect">
            <a:avLst/>
          </a:prstGeom>
        </p:spPr>
      </p:pic>
      <p:pic>
        <p:nvPicPr>
          <p:cNvPr id="1525404403" name=""/>
          <p:cNvPicPr>
            <a:picLocks noChangeAspect="1"/>
          </p:cNvPicPr>
          <p:nvPr/>
        </p:nvPicPr>
        <p:blipFill>
          <a:blip r:embed="rId5"/>
          <a:srcRect l="0" t="10810" r="0" b="0"/>
          <a:stretch/>
        </p:blipFill>
        <p:spPr bwMode="auto">
          <a:xfrm flipH="0" flipV="0">
            <a:off x="395832" y="206537"/>
            <a:ext cx="2325323" cy="27652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/>
          <p:cNvSpPr/>
          <p:nvPr/>
        </p:nvSpPr>
        <p:spPr bwMode="auto">
          <a:xfrm flipH="0" flipV="0">
            <a:off x="4496527" y="1510158"/>
            <a:ext cx="3351568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7" name="Текст 8"/>
          <p:cNvSpPr txBox="1"/>
          <p:nvPr/>
        </p:nvSpPr>
        <p:spPr bwMode="auto">
          <a:xfrm flipH="0" flipV="0">
            <a:off x="4778515" y="3995481"/>
            <a:ext cx="2787591" cy="198225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Проектирование, разработка интерфейсов</a:t>
            </a:r>
            <a:r>
              <a:rPr lang="en-US" sz="1400">
                <a:solidFill>
                  <a:schemeClr val="tx1"/>
                </a:solidFill>
              </a:rPr>
              <a:t>, </a:t>
            </a:r>
            <a:r>
              <a:rPr lang="ru-RU" sz="1400">
                <a:solidFill>
                  <a:schemeClr val="tx1"/>
                </a:solidFill>
              </a:rPr>
              <a:t>научный сотрудник</a:t>
            </a:r>
            <a:endParaRPr sz="160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@sofiaontonovna</a:t>
            </a:r>
            <a:endParaRPr sz="160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400">
                <a:solidFill>
                  <a:schemeClr val="tx1"/>
                </a:solidFill>
              </a:rPr>
              <a:t/>
            </a:r>
            <a:endParaRPr sz="160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ООО Имэдж Лаб, НМИЦ хирургии им. А. В. Вишневского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58" name="Текст 8"/>
          <p:cNvSpPr txBox="1"/>
          <p:nvPr/>
        </p:nvSpPr>
        <p:spPr bwMode="auto">
          <a:xfrm>
            <a:off x="6267925" y="2401301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София Шмелева</a:t>
            </a:r>
            <a:endParaRPr/>
          </a:p>
        </p:txBody>
      </p:sp>
      <p:sp>
        <p:nvSpPr>
          <p:cNvPr id="59" name="Скругленный прямоугольник 58"/>
          <p:cNvSpPr/>
          <p:nvPr/>
        </p:nvSpPr>
        <p:spPr bwMode="auto">
          <a:xfrm flipH="0" flipV="0">
            <a:off x="8582132" y="1464704"/>
            <a:ext cx="3176665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0" name="Текст 8"/>
          <p:cNvSpPr txBox="1"/>
          <p:nvPr/>
        </p:nvSpPr>
        <p:spPr bwMode="auto">
          <a:xfrm flipH="0" flipV="0">
            <a:off x="8914197" y="4045940"/>
            <a:ext cx="2778869" cy="2114724"/>
          </a:xfrm>
          <a:prstGeom prst="rect">
            <a:avLst/>
          </a:prstGeom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Data Science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lang="ru-RU" sz="1400">
                <a:solidFill>
                  <a:schemeClr val="tx1"/>
                </a:solidFill>
              </a:rPr>
              <a:t>Генеральный директор</a:t>
            </a:r>
            <a:endParaRPr sz="14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@Ctmrimaster</a:t>
            </a:r>
            <a:endParaRPr sz="140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400">
                <a:solidFill>
                  <a:schemeClr val="tx1"/>
                </a:solidFill>
              </a:rPr>
              <a:t/>
            </a:r>
            <a:endParaRPr sz="140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ООО Имэдж Лаб, НМИЦ хирургии им. А. В. Вишневского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61" name="Текст 8"/>
          <p:cNvSpPr txBox="1"/>
          <p:nvPr/>
        </p:nvSpPr>
        <p:spPr bwMode="auto">
          <a:xfrm>
            <a:off x="10250059" y="2401301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Евгений Кондратьев</a:t>
            </a:r>
            <a:endParaRPr/>
          </a:p>
        </p:txBody>
      </p:sp>
      <p:sp>
        <p:nvSpPr>
          <p:cNvPr id="17" name="Скругленный прямоугольник 16"/>
          <p:cNvSpPr/>
          <p:nvPr/>
        </p:nvSpPr>
        <p:spPr bwMode="auto">
          <a:xfrm flipH="0" flipV="0">
            <a:off x="346075" y="1522005"/>
            <a:ext cx="319392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t>3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en-US">
                <a:latin typeface="+mn-lt"/>
              </a:rPr>
              <a:t>Image Lab</a:t>
            </a:r>
            <a:endParaRPr lang="ru-RU">
              <a:latin typeface="+mn-lt"/>
            </a:endParaRP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27"/>
          </p:nvPr>
        </p:nvSpPr>
        <p:spPr bwMode="auto">
          <a:xfrm flipH="0" flipV="0">
            <a:off x="562052" y="3987871"/>
            <a:ext cx="2663359" cy="16246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Разработка программного обеспечения</a:t>
            </a:r>
            <a:r>
              <a:rPr lang="ru-RU" sz="1400">
                <a:solidFill>
                  <a:schemeClr val="tx1"/>
                </a:solidFill>
              </a:rPr>
              <a:t>, главный медицинский разработчик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>@ustalov_aa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400">
                <a:solidFill>
                  <a:schemeClr val="tx1"/>
                </a:solidFill>
              </a:rPr>
              <a:t/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ООО Имэдж Лаб, НМИЦ хирургии им. А. В. Вишневского</a:t>
            </a:r>
            <a:endParaRPr/>
          </a:p>
        </p:txBody>
      </p:sp>
      <p:sp>
        <p:nvSpPr>
          <p:cNvPr id="15" name="Текст 8"/>
          <p:cNvSpPr txBox="1"/>
          <p:nvPr/>
        </p:nvSpPr>
        <p:spPr bwMode="auto">
          <a:xfrm>
            <a:off x="2253494" y="2401301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Андрей Усталов</a:t>
            </a:r>
            <a:endParaRPr/>
          </a:p>
        </p:txBody>
      </p:sp>
      <p:pic>
        <p:nvPicPr>
          <p:cNvPr id="826515072" name=""/>
          <p:cNvPicPr>
            <a:picLocks noChangeAspect="1"/>
          </p:cNvPicPr>
          <p:nvPr/>
        </p:nvPicPr>
        <p:blipFill>
          <a:blip r:embed="rId4"/>
          <a:srcRect l="29078" t="8543" r="22368" b="42137"/>
          <a:stretch/>
        </p:blipFill>
        <p:spPr bwMode="auto">
          <a:xfrm flipH="0" flipV="0">
            <a:off x="4763751" y="1669421"/>
            <a:ext cx="1371949" cy="2091670"/>
          </a:xfrm>
          <a:prstGeom prst="rect">
            <a:avLst/>
          </a:prstGeom>
        </p:spPr>
      </p:pic>
      <p:pic>
        <p:nvPicPr>
          <p:cNvPr id="45783973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724899" y="1693150"/>
            <a:ext cx="1395430" cy="2067941"/>
          </a:xfrm>
          <a:prstGeom prst="rect">
            <a:avLst/>
          </a:prstGeom>
        </p:spPr>
      </p:pic>
      <p:pic>
        <p:nvPicPr>
          <p:cNvPr id="103565009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18358" y="1693150"/>
            <a:ext cx="1650459" cy="19945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t>4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+mn-lt"/>
              </a:rPr>
              <a:t>Имэдж Лаб</a:t>
            </a:r>
            <a:endParaRPr lang="ru-RU">
              <a:latin typeface="+mn-lt"/>
            </a:endParaRPr>
          </a:p>
        </p:txBody>
      </p:sp>
      <p:sp>
        <p:nvSpPr>
          <p:cNvPr id="37" name="Текст 8"/>
          <p:cNvSpPr>
            <a:spLocks noGrp="1"/>
          </p:cNvSpPr>
          <p:nvPr>
            <p:ph type="body" sz="quarter" idx="27"/>
          </p:nvPr>
        </p:nvSpPr>
        <p:spPr bwMode="auto">
          <a:xfrm flipH="0" flipV="0">
            <a:off x="533606" y="1602272"/>
            <a:ext cx="11159459" cy="105424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Clr>
                <a:schemeClr val="accent1"/>
              </a:buClr>
              <a:buFont typeface="Wingdings"/>
              <a:buNone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В 2023 году мы объединились идеей делать лучевую диагностику лучше и начали с проекта «Генерация медицинских диагностических изображений с помощью 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искусственного интеллекта», который вошел в </a:t>
            </a:r>
            <a:r>
              <a:rPr lang="ru-RU" sz="1200" b="1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15 лучших стартапов России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 на акселераторе 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«Архипелаг 2023. Развитие данного проекта привело нас к финалу 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чемпионата мира по искусственному интеллекту </a:t>
            </a:r>
            <a:r>
              <a:rPr lang="ru-RU" sz="1200" b="1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AI World Championship 2025, Абу-Даби, ОАЭ в разделе медицина (топ-3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). 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Стали </a:t>
            </a:r>
            <a:r>
              <a:rPr lang="ru-RU" sz="1200" b="1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победителями Всероссийского конкурса научных проектов «Технологии для здоровья человека 2026»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 с проектом неинвазивной диагностики поджелудочной железы. Зарегистрировали целый ряд результатов интеллектуальной дятельности, создали учебное пособие по радиомическому анализу, опубликовали ряд статей.</a:t>
            </a:r>
            <a:endParaRPr lang="ru-RU" sz="1000" b="0" i="0" u="none" strike="noStrike" cap="none" spc="0">
              <a:solidFill>
                <a:schemeClr val="tx1"/>
              </a:solidFill>
              <a:latin typeface="Montserrat"/>
              <a:cs typeface="Montserrat"/>
            </a:endParaRPr>
          </a:p>
        </p:txBody>
      </p:sp>
      <p:sp>
        <p:nvSpPr>
          <p:cNvPr id="38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40" name="Текст 8"/>
          <p:cNvSpPr txBox="1"/>
          <p:nvPr/>
        </p:nvSpPr>
        <p:spPr bwMode="auto">
          <a:xfrm flipH="0" flipV="0">
            <a:off x="533606" y="5139254"/>
            <a:ext cx="11323431" cy="10553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В последний день регистрации на хакатон, который совпал с моим днем рождения, моей жене, которая по совпадению научная сотрудника Им</a:t>
            </a:r>
            <a:r>
              <a:rPr lang="ru-RU">
                <a:solidFill>
                  <a:schemeClr val="tx1"/>
                </a:solidFill>
              </a:rPr>
              <a:t>эдж Лаб, предложили поучаствовать в разработке решения в качестве эксперта-рентгенолога. Та команда получила отказ... и еще одного соперника в соревновании. 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Самым сложным было найти время, но бессонные ночи позволили эту нехватка компенсировать.</a:t>
            </a:r>
            <a:endParaRPr/>
          </a:p>
        </p:txBody>
      </p:sp>
      <p:sp>
        <p:nvSpPr>
          <p:cNvPr id="41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43" name="Текст 8"/>
          <p:cNvSpPr txBox="1"/>
          <p:nvPr/>
        </p:nvSpPr>
        <p:spPr bwMode="auto">
          <a:xfrm flipH="0" flipV="0">
            <a:off x="533606" y="3429000"/>
            <a:ext cx="11439018" cy="107852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Лучевая диагностика это то, в чем суммарный опыт нашей команды более 25 лет, поэтому более подходящего направления нам сложно было бы найти.</a:t>
            </a:r>
            <a:endParaRPr/>
          </a:p>
        </p:txBody>
      </p:sp>
      <p:sp>
        <p:nvSpPr>
          <p:cNvPr id="44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5" name="Прямая соединительная линия 4"/>
          <p:cNvCxnSpPr>
            <a:cxnSpLocks/>
          </p:cNvCxnSpPr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>
            <a:cxnSpLocks/>
          </p:cNvCxnSpPr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>
            <a:cxnSpLocks/>
          </p:cNvCxnSpPr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4</a:t>
            </a:r>
            <a:endParaRPr/>
          </a:p>
        </p:txBody>
      </p:sp>
      <p:sp>
        <p:nvSpPr>
          <p:cNvPr id="1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4</a:t>
            </a:r>
            <a:endParaRPr/>
          </a:p>
        </p:txBody>
      </p:sp>
      <p:sp>
        <p:nvSpPr>
          <p:cNvPr id="12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t>5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700">
                <a:solidFill>
                  <a:schemeClr val="tx1"/>
                </a:solidFill>
              </a:rPr>
              <a:t>Семь выбранных весов: область исследования, малый вертел, таз/бедро, анатомия позвоночника, угловые точки, костные структуры и инородные тела. FastAPI, PyTorch CPU, Docker. Анализ локальный, без передачи снимков внешним сервисам.</a:t>
            </a:r>
            <a:endParaRPr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700">
                <a:solidFill>
                  <a:schemeClr val="tx1"/>
                </a:solidFill>
              </a:rPr>
              <a:t>Помощь специалистам при контроле качества и обратная связь по укладке. Следующие этапы: независимая оценка, проверка других аппаратов, уменьшение ошибок ориентиров и расширение набора артефактов.</a:t>
            </a:r>
            <a:endParaRPr/>
          </a:p>
        </p:txBody>
      </p:sp>
      <p:sp>
        <p:nvSpPr>
          <p:cNvPr id="1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17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9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Montserrat"/>
              </a:defRPr>
            </a:pPr>
            <a:r>
              <a:t>Пять задач контроля качества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Бедро: корректная область интереса и допустимая ротация по малому вертелу.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Позвоночник: укладка, отклонение оси и посторонние предметы.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Общий ответ: есть нарушение, если нарушен хотя бы один применимый критерий.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При недоступной обязательной оценке — нарушение с явным указанием причины.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9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Montserrat"/>
              </a:defRPr>
            </a:pPr>
            <a:r>
              <a:t>Анатомия → измерения → 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DICOM / PNG → классификатор области → отдельные анатомические модели.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Бедро: ориентиры большого вертела, седалищной кости и латерального края; малый вертел и выступ.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Позвоночник: ориентиры оси, верхний охват, подвздошные контуры.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Исходные координаты: размеры с Pixel Spacing; ось в квадратных пикселях.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9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Montserrat"/>
              </a:defRPr>
            </a:pPr>
            <a:r>
              <a:t>Данные и обучение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КТ-синтетика: 6231 проекция бедра из 47 КТ; 2778 проекций позвоночника из 77 КТ.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PNG: восстановленные контуры и слабые псевдореференсы; раздельные модели бедра и позвоночника.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Ориентиры: AASCE → PNG → отобранные псевдореференсы 33 собственных исследований.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Инородные тела: Object-CXR и процедурные объекты; вариации формы, резкости и контраста.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9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Montserrat"/>
              </a:defRPr>
            </a:pPr>
            <a:r>
              <a:t>Ретроспективная проверка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252 уникальных снимка: 153 бедра и 99 позвоночников.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Часть данных использовалась в обучении, адаптации и выборе правил — это не независимый тест.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Разделение по исследованиям; независимость пациентов не подтверждена.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95% интервалы: 2000 bootstrap-повторов по исследованиям. Подробные таблицы и все расхождения приложены.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9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Montserrat"/>
              </a:defRPr>
            </a:pPr>
            <a:r>
              <a:t>Результаты текущего алгоритма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Общий класс: F1 0.625; 95% ДИ 0.520–0.716.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Чувствительность 0.658; специфичность 0.807.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TP 50 · FP 34 · FN 26 · TN 142.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Macro-F1 пяти задач: 0.533. Ошибки по каждому критерию — в validation.xlsx.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9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Montserrat"/>
              </a:defRPr>
            </a:pPr>
            <a:r>
              <a:t>Результаты по задачам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Укладка бедра: F1 0.621; FP 21, FN 12.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Область интереса бедра: F1 0.333; FP 3, FN 5.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Укладка позвоночника: F1 0.667; FP 4, FN 1.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Ось позвоночника: F1 0.300; FP 5, FN 9.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Инородные тела: F1 0.743; FP 4, FN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9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Montserrat"/>
              </a:defRPr>
            </a:pPr>
            <a:r>
              <a:t>Сервис и воспроизводимость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Docker со всеми выбранными весами; CPU-инференс проверен без сети.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Полный прогон 252 снимков: 211.8 с в текущем окружении.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ZIP на входе; таблица XLSX и ZIP визуализаций на выходе; локальное хранение.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HTTP Basic, напоминание об анонимизации. Пароли и исходные DICOM не публикуются.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310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9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Montserrat"/>
              </a:defRPr>
            </a:pPr>
            <a:r>
              <a:t>Ограничения и следующий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Ошибки ориентиров и нумерации; пропуск нижнего охвата в кейсе 0055.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Нет отдельной проверки видимости шейки; фронтальная проекция предполагается.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Все типы артефактов и другие аппараты пока не проверены.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Следующий шаг — независимое тестирование и адресное исправление ошибок, без подмены метрик.</a:t>
            </a:r>
          </a:p>
          <a:p>
            <a:pPr>
              <a:spcAft>
                <a:spcPts val="1900"/>
              </a:spcAft>
              <a:defRPr sz="2000">
                <a:solidFill>
                  <a:srgbClr val="1C1D22"/>
                </a:solidFill>
                <a:latin typeface="Montserrat"/>
              </a:defRPr>
            </a:pPr>
            <a:r>
              <a:t>Прототип: https://app.betterimaging.ru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ONLYOFFICE/8.1.1.27</Application>
  <DocSecurity>0</DocSecurity>
  <PresentationFormat>Широкоэкранный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ImageLab DXA — контроль качества денситометрии</dc:title>
  <dc:subject/>
  <dc:creator>Image Lab</dc:creator>
  <cp:keywords/>
  <dc:description/>
  <dc:identifier/>
  <dc:language/>
  <cp:lastModifiedBy/>
  <cp:revision>96</cp:revision>
  <dcterms:created xsi:type="dcterms:W3CDTF">2023-05-15T07:36:23Z</dcterms:created>
  <dcterms:modified xsi:type="dcterms:W3CDTF">2026-09-29T20:05:21Z</dcterms:modified>
  <cp:category/>
  <cp:contentStatus/>
  <cp:version/>
</cp:coreProperties>
</file>